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Monthly sales trend, Jan 2019 – Dec 2020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Jan19</c:v>
                  </c:pt>
                  <c:pt idx="1">
                    <c:v>Feb19</c:v>
                  </c:pt>
                  <c:pt idx="2">
                    <c:v>Mar19</c:v>
                  </c:pt>
                  <c:pt idx="3">
                    <c:v>Apr19</c:v>
                  </c:pt>
                  <c:pt idx="4">
                    <c:v>May19</c:v>
                  </c:pt>
                  <c:pt idx="5">
                    <c:v>Jun19</c:v>
                  </c:pt>
                  <c:pt idx="6">
                    <c:v>Jul19</c:v>
                  </c:pt>
                  <c:pt idx="7">
                    <c:v>Aug19</c:v>
                  </c:pt>
                  <c:pt idx="8">
                    <c:v>Sep19</c:v>
                  </c:pt>
                  <c:pt idx="9">
                    <c:v>Oct19</c:v>
                  </c:pt>
                  <c:pt idx="10">
                    <c:v>Nov19</c:v>
                  </c:pt>
                  <c:pt idx="11">
                    <c:v>Dec19</c:v>
                  </c:pt>
                  <c:pt idx="12">
                    <c:v>Jan20</c:v>
                  </c:pt>
                  <c:pt idx="13">
                    <c:v>Feb20</c:v>
                  </c:pt>
                  <c:pt idx="14">
                    <c:v>Mar20</c:v>
                  </c:pt>
                  <c:pt idx="15">
                    <c:v>Apr20</c:v>
                  </c:pt>
                  <c:pt idx="16">
                    <c:v>May20</c:v>
                  </c:pt>
                  <c:pt idx="17">
                    <c:v>Jun20</c:v>
                  </c:pt>
                  <c:pt idx="18">
                    <c:v>Jul20</c:v>
                  </c:pt>
                  <c:pt idx="19">
                    <c:v>Aug20</c:v>
                  </c:pt>
                  <c:pt idx="20">
                    <c:v>Sep20</c:v>
                  </c:pt>
                  <c:pt idx="21">
                    <c:v>Oct20</c:v>
                  </c:pt>
                  <c:pt idx="22">
                    <c:v>Nov20</c:v>
                  </c:pt>
                  <c:pt idx="23">
                    <c:v>Dec20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18616</c:v>
                </c:pt>
                <c:pt idx="1">
                  <c:v>19979</c:v>
                </c:pt>
                <c:pt idx="2">
                  <c:v>51716</c:v>
                </c:pt>
                <c:pt idx="3">
                  <c:v>38750</c:v>
                </c:pt>
                <c:pt idx="4">
                  <c:v>50988</c:v>
                </c:pt>
                <c:pt idx="5">
                  <c:v>40345</c:v>
                </c:pt>
                <c:pt idx="6">
                  <c:v>39262</c:v>
                </c:pt>
                <c:pt idx="7">
                  <c:v>31115</c:v>
                </c:pt>
                <c:pt idx="8">
                  <c:v>73410</c:v>
                </c:pt>
                <c:pt idx="9">
                  <c:v>42688</c:v>
                </c:pt>
                <c:pt idx="10">
                  <c:v>79412</c:v>
                </c:pt>
                <c:pt idx="11">
                  <c:v>78399</c:v>
                </c:pt>
                <c:pt idx="12">
                  <c:v>54763</c:v>
                </c:pt>
                <c:pt idx="13">
                  <c:v>52068</c:v>
                </c:pt>
                <c:pt idx="14">
                  <c:v>64229</c:v>
                </c:pt>
                <c:pt idx="15">
                  <c:v>50808</c:v>
                </c:pt>
                <c:pt idx="16">
                  <c:v>66750</c:v>
                </c:pt>
                <c:pt idx="17">
                  <c:v>69243</c:v>
                </c:pt>
                <c:pt idx="18">
                  <c:v>60077</c:v>
                </c:pt>
                <c:pt idx="19">
                  <c:v>77339</c:v>
                </c:pt>
                <c:pt idx="20">
                  <c:v>119804</c:v>
                </c:pt>
                <c:pt idx="21">
                  <c:v>88897</c:v>
                </c:pt>
                <c:pt idx="22">
                  <c:v>130961</c:v>
                </c:pt>
                <c:pt idx="23">
                  <c:v>166186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Monthly sales: 2019 vs 2020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9FB6E0"/>
            </a:solidFill>
            <a:ln w="31750" cap="flat">
              <a:solidFill>
                <a:srgbClr val="9FB6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FB6E0"/>
              </a:solidFill>
              <a:ln w="9525" cap="flat">
                <a:solidFill>
                  <a:srgbClr val="9FB6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18616</c:v>
                </c:pt>
                <c:pt idx="1">
                  <c:v>19979</c:v>
                </c:pt>
                <c:pt idx="2">
                  <c:v>51716</c:v>
                </c:pt>
                <c:pt idx="3">
                  <c:v>38750</c:v>
                </c:pt>
                <c:pt idx="4">
                  <c:v>50988</c:v>
                </c:pt>
                <c:pt idx="5">
                  <c:v>40345</c:v>
                </c:pt>
                <c:pt idx="6">
                  <c:v>39262</c:v>
                </c:pt>
                <c:pt idx="7">
                  <c:v>31115</c:v>
                </c:pt>
                <c:pt idx="8">
                  <c:v>73410</c:v>
                </c:pt>
                <c:pt idx="9">
                  <c:v>42688</c:v>
                </c:pt>
                <c:pt idx="10">
                  <c:v>79412</c:v>
                </c:pt>
                <c:pt idx="11">
                  <c:v>78399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54763</c:v>
                </c:pt>
                <c:pt idx="1">
                  <c:v>52068</c:v>
                </c:pt>
                <c:pt idx="2">
                  <c:v>64229</c:v>
                </c:pt>
                <c:pt idx="3">
                  <c:v>50808</c:v>
                </c:pt>
                <c:pt idx="4">
                  <c:v>66750</c:v>
                </c:pt>
                <c:pt idx="5">
                  <c:v>69243</c:v>
                </c:pt>
                <c:pt idx="6">
                  <c:v>60077</c:v>
                </c:pt>
                <c:pt idx="7">
                  <c:v>77339</c:v>
                </c:pt>
                <c:pt idx="8">
                  <c:v>119804</c:v>
                </c:pt>
                <c:pt idx="9">
                  <c:v>88897</c:v>
                </c:pt>
                <c:pt idx="10">
                  <c:v>130961</c:v>
                </c:pt>
                <c:pt idx="11">
                  <c:v>166186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Sales by segment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753002</c:v>
                </c:pt>
                <c:pt idx="1">
                  <c:v>509743</c:v>
                </c:pt>
                <c:pt idx="2">
                  <c:v>303059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Profit ($) and margin (%)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Office Supplies</c:v>
                  </c:pt>
                  <c:pt idx="1">
                    <c:v>Technology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74797</c:v>
                </c:pt>
                <c:pt idx="1">
                  <c:v>90458</c:v>
                </c:pt>
                <c:pt idx="2">
                  <c:v>10007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E8A33D"/>
            </a:solidFill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Office Supplies</c:v>
                  </c:pt>
                  <c:pt idx="1">
                    <c:v>Technology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0.1162</c:v>
                </c:pt>
                <c:pt idx="1">
                  <c:v>0.1922</c:v>
                </c:pt>
                <c:pt idx="2">
                  <c:v>0.0222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Top 10 customers by sales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Jane Waco</c:v>
                  </c:pt>
                  <c:pt idx="1">
                    <c:v>Adam Bellavance</c:v>
                  </c:pt>
                  <c:pt idx="2">
                    <c:v>John Lee</c:v>
                  </c:pt>
                  <c:pt idx="3">
                    <c:v>Pete Kriz</c:v>
                  </c:pt>
                  <c:pt idx="4">
                    <c:v>Bill Shonely</c:v>
                  </c:pt>
                  <c:pt idx="5">
                    <c:v>Edward Hooks</c:v>
                  </c:pt>
                  <c:pt idx="6">
                    <c:v>Helen Wasserman</c:v>
                  </c:pt>
                  <c:pt idx="7">
                    <c:v>Seth Vernon</c:v>
                  </c:pt>
                  <c:pt idx="8">
                    <c:v>Karen Ferguson</c:v>
                  </c:pt>
                  <c:pt idx="9">
                    <c:v>Caroline Jumper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7934</c:v>
                </c:pt>
                <c:pt idx="1">
                  <c:v>8167</c:v>
                </c:pt>
                <c:pt idx="2">
                  <c:v>8765</c:v>
                </c:pt>
                <c:pt idx="3">
                  <c:v>8812</c:v>
                </c:pt>
                <c:pt idx="4">
                  <c:v>9200</c:v>
                </c:pt>
                <c:pt idx="5">
                  <c:v>9543</c:v>
                </c:pt>
                <c:pt idx="6">
                  <c:v>10075</c:v>
                </c:pt>
                <c:pt idx="7">
                  <c:v>10751</c:v>
                </c:pt>
                <c:pt idx="8">
                  <c:v>10941</c:v>
                </c:pt>
                <c:pt idx="9">
                  <c:v>11597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8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$#,##0,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Return rate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</c:v>
                </c:pt>
              </c:strCache>
            </c:strRef>
          </c:tx>
          <c:spPr>
            <a:solidFill>
              <a:srgbClr val="B23A2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Technology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0.051</c:v>
                </c:pt>
                <c:pt idx="1">
                  <c:v>0.047</c:v>
                </c:pt>
                <c:pt idx="2">
                  <c:v>0.038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Return rate by segment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Rate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0.036</c:v>
                </c:pt>
                <c:pt idx="1">
                  <c:v>0.034</c:v>
                </c:pt>
                <c:pt idx="2">
                  <c:v>0.032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Average delivery days by ship mode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Delivery Days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Same Day</c:v>
                  </c:pt>
                  <c:pt idx="1">
                    <c:v>First Class</c:v>
                  </c:pt>
                  <c:pt idx="2">
                    <c:v>Second Class</c:v>
                  </c:pt>
                  <c:pt idx="3">
                    <c:v>Standard Class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0.05</c:v>
                </c:pt>
                <c:pt idx="1">
                  <c:v>2.14</c:v>
                </c:pt>
                <c:pt idx="2">
                  <c:v>3.22</c:v>
                </c:pt>
                <c:pt idx="3">
                  <c:v>5.05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Sales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|  FY2019 – FY2020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396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38528"/>
            <a:ext cx="213969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$1.57M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139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52928" y="1828800"/>
            <a:ext cx="21396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1938528"/>
            <a:ext cx="213969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$175K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52928" y="2514600"/>
            <a:ext cx="2139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57216" y="1828800"/>
            <a:ext cx="21396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1938528"/>
            <a:ext cx="213969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57216" y="2514600"/>
            <a:ext cx="2139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61504" y="1828800"/>
            <a:ext cx="21396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1504" y="1938528"/>
            <a:ext cx="213969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461504" y="2514600"/>
            <a:ext cx="2139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65792" y="1828800"/>
            <a:ext cx="2139696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65792" y="1938528"/>
            <a:ext cx="213969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765792" y="2514600"/>
            <a:ext cx="2139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110642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</p:spPr>
      </p:sp>
      <p:graphicFrame>
        <p:nvGraphicFramePr>
          <p:cNvPr id="20" name="Chart 0" descr=""/>
          <p:cNvGraphicFramePr/>
          <p:nvPr/>
        </p:nvGraphicFramePr>
        <p:xfrm>
          <a:off x="777240" y="3429000"/>
          <a:ext cx="106070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grew ~77% year-over-year in 2020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and channel mix, FY2019–FY2020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406640" y="1417320"/>
          <a:ext cx="4297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60807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6080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growth: </a:t>
            </a:r>
            <a:pPr indent="0" marL="0">
              <a:buNone/>
            </a:pPr>
            <a:r>
              <a:rPr lang="en-US" sz="1400" b="1" dirty="0">
                <a:solidFill>
                  <a:srgbClr val="1E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+77.3%  </a:t>
            </a:r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sales rose from $564.7K in 2019 to $1.00M in 2020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drags margins — Tables is unprofitable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profit and margin, FY2019–FY2020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417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extremes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783080"/>
          <a:ext cx="4297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Sub-Category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Copiers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8A4C"/>
                          </a:solidFill>
                        </a:rPr>
                        <a:t>71.6%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Envelopes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8A4C"/>
                          </a:solidFill>
                        </a:rPr>
                        <a:t>21.2%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Paper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8A4C"/>
                          </a:solidFill>
                        </a:rPr>
                        <a:t>21.2%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Accessories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8A4C"/>
                          </a:solidFill>
                        </a:rPr>
                        <a:t>20.7%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Machines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B6F76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Supplies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2E"/>
                          </a:solidFill>
                        </a:rPr>
                        <a:t>-4.5%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Bookcases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23A2E"/>
                          </a:solidFill>
                        </a:rPr>
                        <a:t>-0.6%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Tables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23A2E"/>
                          </a:solidFill>
                        </a:rPr>
                        <a:t>-9.3%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06640" y="5486400"/>
            <a:ext cx="4297680" cy="777240"/>
          </a:xfrm>
          <a:prstGeom prst="roundRect">
            <a:avLst>
              <a:gd name="adj" fmla="val 7059"/>
            </a:avLst>
          </a:prstGeom>
          <a:solidFill>
            <a:srgbClr val="FBEAF0"/>
          </a:solidFill>
          <a:ln/>
        </p:spPr>
      </p:sp>
      <p:sp>
        <p:nvSpPr>
          <p:cNvPr id="8" name="Text 4"/>
          <p:cNvSpPr/>
          <p:nvPr/>
        </p:nvSpPr>
        <p:spPr>
          <a:xfrm>
            <a:off x="7589520" y="54864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lost $11.1K on $119.3K of sales — the only sub-category losing money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stay low at 3.5%, but skew toward Furniture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and return rate by category and segment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766560" y="1417320"/>
          <a:ext cx="4937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766560" y="3977640"/>
          <a:ext cx="4937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Class shipping averages 5 days — the slowest tier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by ship mode and priority actions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766560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0" y="19476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Furniture profitability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0" y="222199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Tables (-9.3% margin, -$11.1K) and Bookcases (-0.6%) — review pricing, freight cost allocation, and supplier terms.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766560" y="30815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0" y="3044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volume to faster shipping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331927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carries most orders at 5.0 days average. Promote First/Second Class to cut delivery time on high-value orders.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66560" y="4178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0" y="41422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category returns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0" y="441655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(5.1%) and Technology (4.7%) return rates exceed Office Supplies (3.8%) — review product listings and fit/spec information.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766560" y="52760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0" y="52395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what's working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315200" y="551383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 (71.6% margin) and the Consumer segment ($753K sales) are top performers — prioritize retention and inventory support.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2026-07-19T16:18:16Z</dcterms:created>
  <dcterms:modified xsi:type="dcterms:W3CDTF">2026-07-19T16:18:16Z</dcterms:modified>
</cp:coreProperties>
</file>